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ileron Light" charset="1" panose="00000400000000000000"/>
      <p:regular r:id="rId16"/>
    </p:embeddedFont>
    <p:embeddedFont>
      <p:font typeface="Aileron Bold" charset="1" panose="00000800000000000000"/>
      <p:regular r:id="rId17"/>
    </p:embeddedFont>
    <p:embeddedFont>
      <p:font typeface="Canva Sans Bold" charset="1" panose="020B0803030501040103"/>
      <p:regular r:id="rId18"/>
    </p:embeddedFont>
    <p:embeddedFont>
      <p:font typeface="Aileron"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4922042">
            <a:off x="980119" y="-3449052"/>
            <a:ext cx="5423860" cy="8217969"/>
          </a:xfrm>
          <a:custGeom>
            <a:avLst/>
            <a:gdLst/>
            <a:ahLst/>
            <a:cxnLst/>
            <a:rect r="r" b="b" t="t" l="l"/>
            <a:pathLst>
              <a:path h="8217969" w="5423860">
                <a:moveTo>
                  <a:pt x="0" y="0"/>
                </a:moveTo>
                <a:lnTo>
                  <a:pt x="5423859" y="0"/>
                </a:lnTo>
                <a:lnTo>
                  <a:pt x="5423859" y="8217969"/>
                </a:lnTo>
                <a:lnTo>
                  <a:pt x="0" y="8217969"/>
                </a:lnTo>
                <a:lnTo>
                  <a:pt x="0" y="0"/>
                </a:lnTo>
                <a:close/>
              </a:path>
            </a:pathLst>
          </a:custGeom>
          <a:blipFill>
            <a:blip r:embed="rId3">
              <a:alphaModFix amt="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120089">
            <a:off x="5141884" y="2024133"/>
            <a:ext cx="10753075" cy="10753075"/>
          </a:xfrm>
          <a:custGeom>
            <a:avLst/>
            <a:gdLst/>
            <a:ahLst/>
            <a:cxnLst/>
            <a:rect r="r" b="b" t="t" l="l"/>
            <a:pathLst>
              <a:path h="10753075" w="10753075">
                <a:moveTo>
                  <a:pt x="0" y="0"/>
                </a:moveTo>
                <a:lnTo>
                  <a:pt x="10753075" y="0"/>
                </a:lnTo>
                <a:lnTo>
                  <a:pt x="10753075" y="10753075"/>
                </a:lnTo>
                <a:lnTo>
                  <a:pt x="0" y="10753075"/>
                </a:lnTo>
                <a:lnTo>
                  <a:pt x="0" y="0"/>
                </a:lnTo>
                <a:close/>
              </a:path>
            </a:pathLst>
          </a:custGeom>
          <a:blipFill>
            <a:blip r:embed="rId5">
              <a:alphaModFix amt="12000"/>
            </a:blip>
            <a:stretch>
              <a:fillRect l="0" t="0" r="0" b="0"/>
            </a:stretch>
          </a:blipFill>
        </p:spPr>
      </p:sp>
      <p:sp>
        <p:nvSpPr>
          <p:cNvPr name="Freeform 5" id="5"/>
          <p:cNvSpPr/>
          <p:nvPr/>
        </p:nvSpPr>
        <p:spPr>
          <a:xfrm flipH="false" flipV="false" rot="5120089">
            <a:off x="12010048" y="4263016"/>
            <a:ext cx="7416075" cy="7416075"/>
          </a:xfrm>
          <a:custGeom>
            <a:avLst/>
            <a:gdLst/>
            <a:ahLst/>
            <a:cxnLst/>
            <a:rect r="r" b="b" t="t" l="l"/>
            <a:pathLst>
              <a:path h="7416075" w="7416075">
                <a:moveTo>
                  <a:pt x="0" y="0"/>
                </a:moveTo>
                <a:lnTo>
                  <a:pt x="7416075" y="0"/>
                </a:lnTo>
                <a:lnTo>
                  <a:pt x="7416075" y="7416075"/>
                </a:lnTo>
                <a:lnTo>
                  <a:pt x="0" y="7416075"/>
                </a:lnTo>
                <a:lnTo>
                  <a:pt x="0" y="0"/>
                </a:lnTo>
                <a:close/>
              </a:path>
            </a:pathLst>
          </a:custGeom>
          <a:blipFill>
            <a:blip r:embed="rId5">
              <a:alphaModFix amt="12000"/>
            </a:blip>
            <a:stretch>
              <a:fillRect l="0" t="0" r="0" b="0"/>
            </a:stretch>
          </a:blipFill>
        </p:spPr>
      </p:sp>
      <p:sp>
        <p:nvSpPr>
          <p:cNvPr name="TextBox 6" id="6"/>
          <p:cNvSpPr txBox="true"/>
          <p:nvPr/>
        </p:nvSpPr>
        <p:spPr>
          <a:xfrm rot="0">
            <a:off x="1223035" y="3711181"/>
            <a:ext cx="9408539" cy="3017038"/>
          </a:xfrm>
          <a:prstGeom prst="rect">
            <a:avLst/>
          </a:prstGeom>
        </p:spPr>
        <p:txBody>
          <a:bodyPr anchor="t" rtlCol="false" tIns="0" lIns="0" bIns="0" rIns="0">
            <a:spAutoFit/>
          </a:bodyPr>
          <a:lstStyle/>
          <a:p>
            <a:pPr algn="l">
              <a:lnSpc>
                <a:spcPts val="7872"/>
              </a:lnSpc>
            </a:pPr>
            <a:r>
              <a:rPr lang="en-US" sz="7872" spc="-393">
                <a:solidFill>
                  <a:srgbClr val="FFFFFF"/>
                </a:solidFill>
                <a:latin typeface="Aileron Light"/>
                <a:ea typeface="Aileron Light"/>
                <a:cs typeface="Aileron Light"/>
                <a:sym typeface="Aileron Light"/>
              </a:rPr>
              <a:t>pada Sistem Embedded Menggunakan STM32 dan ESP32</a:t>
            </a:r>
          </a:p>
        </p:txBody>
      </p:sp>
      <p:grpSp>
        <p:nvGrpSpPr>
          <p:cNvPr name="Group 7" id="7"/>
          <p:cNvGrpSpPr/>
          <p:nvPr/>
        </p:nvGrpSpPr>
        <p:grpSpPr>
          <a:xfrm rot="0">
            <a:off x="1077632" y="8502650"/>
            <a:ext cx="5437623" cy="1060002"/>
            <a:chOff x="0" y="0"/>
            <a:chExt cx="1432131" cy="279177"/>
          </a:xfrm>
        </p:grpSpPr>
        <p:sp>
          <p:nvSpPr>
            <p:cNvPr name="Freeform 8" id="8"/>
            <p:cNvSpPr/>
            <p:nvPr/>
          </p:nvSpPr>
          <p:spPr>
            <a:xfrm flipH="false" flipV="false" rot="0">
              <a:off x="0" y="0"/>
              <a:ext cx="1432131" cy="279177"/>
            </a:xfrm>
            <a:custGeom>
              <a:avLst/>
              <a:gdLst/>
              <a:ahLst/>
              <a:cxnLst/>
              <a:rect r="r" b="b" t="t" l="l"/>
              <a:pathLst>
                <a:path h="279177" w="1432131">
                  <a:moveTo>
                    <a:pt x="72612" y="0"/>
                  </a:moveTo>
                  <a:lnTo>
                    <a:pt x="1359519" y="0"/>
                  </a:lnTo>
                  <a:cubicBezTo>
                    <a:pt x="1399622" y="0"/>
                    <a:pt x="1432131" y="32510"/>
                    <a:pt x="1432131" y="72612"/>
                  </a:cubicBezTo>
                  <a:lnTo>
                    <a:pt x="1432131" y="206565"/>
                  </a:lnTo>
                  <a:cubicBezTo>
                    <a:pt x="1432131" y="225823"/>
                    <a:pt x="1424481" y="244292"/>
                    <a:pt x="1410864" y="257910"/>
                  </a:cubicBezTo>
                  <a:cubicBezTo>
                    <a:pt x="1397246" y="271527"/>
                    <a:pt x="1378777" y="279177"/>
                    <a:pt x="1359519" y="279177"/>
                  </a:cubicBezTo>
                  <a:lnTo>
                    <a:pt x="72612" y="279177"/>
                  </a:lnTo>
                  <a:cubicBezTo>
                    <a:pt x="32510" y="279177"/>
                    <a:pt x="0" y="246668"/>
                    <a:pt x="0" y="206565"/>
                  </a:cubicBezTo>
                  <a:lnTo>
                    <a:pt x="0" y="72612"/>
                  </a:lnTo>
                  <a:cubicBezTo>
                    <a:pt x="0" y="32510"/>
                    <a:pt x="32510" y="0"/>
                    <a:pt x="72612"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9" id="9"/>
            <p:cNvSpPr txBox="true"/>
            <p:nvPr/>
          </p:nvSpPr>
          <p:spPr>
            <a:xfrm>
              <a:off x="0" y="85725"/>
              <a:ext cx="1432131" cy="193452"/>
            </a:xfrm>
            <a:prstGeom prst="rect">
              <a:avLst/>
            </a:prstGeom>
          </p:spPr>
          <p:txBody>
            <a:bodyPr anchor="ctr" rtlCol="false" tIns="50800" lIns="50800" bIns="50800" rIns="50800"/>
            <a:lstStyle/>
            <a:p>
              <a:pPr algn="ctr">
                <a:lnSpc>
                  <a:spcPts val="2218"/>
                </a:lnSpc>
              </a:pPr>
            </a:p>
          </p:txBody>
        </p:sp>
      </p:grpSp>
      <p:sp>
        <p:nvSpPr>
          <p:cNvPr name="TextBox 10" id="10"/>
          <p:cNvSpPr txBox="true"/>
          <p:nvPr/>
        </p:nvSpPr>
        <p:spPr>
          <a:xfrm rot="0">
            <a:off x="2394374" y="8678702"/>
            <a:ext cx="3116505" cy="736473"/>
          </a:xfrm>
          <a:prstGeom prst="rect">
            <a:avLst/>
          </a:prstGeom>
        </p:spPr>
        <p:txBody>
          <a:bodyPr anchor="t" rtlCol="false" tIns="0" lIns="0" bIns="0" rIns="0">
            <a:spAutoFit/>
          </a:bodyPr>
          <a:lstStyle/>
          <a:p>
            <a:pPr algn="l">
              <a:lnSpc>
                <a:spcPts val="2915"/>
              </a:lnSpc>
            </a:pPr>
            <a:r>
              <a:rPr lang="en-US" sz="2699" spc="-18" b="true">
                <a:solidFill>
                  <a:srgbClr val="FFFFFF"/>
                </a:solidFill>
                <a:latin typeface="Aileron Bold"/>
                <a:ea typeface="Aileron Bold"/>
                <a:cs typeface="Aileron Bold"/>
                <a:sym typeface="Aileron Bold"/>
              </a:rPr>
              <a:t>Faisal Adnan 40040324630051</a:t>
            </a:r>
          </a:p>
        </p:txBody>
      </p:sp>
      <p:sp>
        <p:nvSpPr>
          <p:cNvPr name="TextBox 11" id="11"/>
          <p:cNvSpPr txBox="true"/>
          <p:nvPr/>
        </p:nvSpPr>
        <p:spPr>
          <a:xfrm rot="0">
            <a:off x="1223035" y="1524000"/>
            <a:ext cx="16181668" cy="1767316"/>
          </a:xfrm>
          <a:prstGeom prst="rect">
            <a:avLst/>
          </a:prstGeom>
        </p:spPr>
        <p:txBody>
          <a:bodyPr anchor="t" rtlCol="false" tIns="0" lIns="0" bIns="0" rIns="0">
            <a:spAutoFit/>
          </a:bodyPr>
          <a:lstStyle/>
          <a:p>
            <a:pPr algn="l">
              <a:lnSpc>
                <a:spcPts val="12667"/>
              </a:lnSpc>
            </a:pPr>
            <a:r>
              <a:rPr lang="en-US" sz="14902" spc="-1400" b="true">
                <a:solidFill>
                  <a:srgbClr val="FFFFFF"/>
                </a:solidFill>
                <a:latin typeface="Canva Sans Bold"/>
                <a:ea typeface="Canva Sans Bold"/>
                <a:cs typeface="Canva Sans Bold"/>
                <a:sym typeface="Canva Sans Bold"/>
              </a:rPr>
              <a:t>Interrupt dan Timer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6146271">
            <a:off x="5411574" y="-5966036"/>
            <a:ext cx="8137868" cy="81378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6146271">
            <a:off x="4419996" y="-1924472"/>
            <a:ext cx="2365580" cy="23655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sp>
        <p:nvSpPr>
          <p:cNvPr name="TextBox 8" id="8"/>
          <p:cNvSpPr txBox="true"/>
          <p:nvPr/>
        </p:nvSpPr>
        <p:spPr>
          <a:xfrm rot="0">
            <a:off x="1077632" y="1276350"/>
            <a:ext cx="11273404" cy="1572876"/>
          </a:xfrm>
          <a:prstGeom prst="rect">
            <a:avLst/>
          </a:prstGeom>
        </p:spPr>
        <p:txBody>
          <a:bodyPr anchor="t" rtlCol="false" tIns="0" lIns="0" bIns="0" rIns="0">
            <a:spAutoFit/>
          </a:bodyPr>
          <a:lstStyle/>
          <a:p>
            <a:pPr algn="l">
              <a:lnSpc>
                <a:spcPts val="11868"/>
              </a:lnSpc>
            </a:pPr>
            <a:r>
              <a:rPr lang="en-US" sz="11988" spc="-1126" b="true">
                <a:solidFill>
                  <a:srgbClr val="163B42"/>
                </a:solidFill>
                <a:latin typeface="Canva Sans Bold"/>
                <a:ea typeface="Canva Sans Bold"/>
                <a:cs typeface="Canva Sans Bold"/>
                <a:sym typeface="Canva Sans Bold"/>
              </a:rPr>
              <a:t>Apa itu Interrupt?</a:t>
            </a:r>
          </a:p>
        </p:txBody>
      </p:sp>
      <p:sp>
        <p:nvSpPr>
          <p:cNvPr name="TextBox 9" id="9"/>
          <p:cNvSpPr txBox="true"/>
          <p:nvPr/>
        </p:nvSpPr>
        <p:spPr>
          <a:xfrm rot="0">
            <a:off x="1077632" y="3305129"/>
            <a:ext cx="10025469" cy="5575554"/>
          </a:xfrm>
          <a:prstGeom prst="rect">
            <a:avLst/>
          </a:prstGeom>
        </p:spPr>
        <p:txBody>
          <a:bodyPr anchor="t" rtlCol="false" tIns="0" lIns="0" bIns="0" rIns="0">
            <a:spAutoFit/>
          </a:bodyPr>
          <a:lstStyle/>
          <a:p>
            <a:pPr algn="l">
              <a:lnSpc>
                <a:spcPts val="2927"/>
              </a:lnSpc>
            </a:pPr>
            <a:r>
              <a:rPr lang="en-US" sz="2399" spc="-50">
                <a:solidFill>
                  <a:srgbClr val="163B42"/>
                </a:solidFill>
                <a:latin typeface="Aileron Light"/>
                <a:ea typeface="Aileron Light"/>
                <a:cs typeface="Aileron Light"/>
                <a:sym typeface="Aileron Light"/>
              </a:rPr>
              <a:t>Interrupt merupakan mekanisme pada sistem mikrokontroler yang memungkinkan CPU menghentikan sementara eksekusi program utama ketika terjadi suatu peristiwa tertentu yang memerlukan penanganan segera. Dengan adanya interrupt, CPU tidak perlu terus-menerus memeriksa kondisi perangkat karena perangkat keras dapat langsung memberikan sinyal kepada CPU ketika suatu event terjadi. Setelah CPU menerima sinyal tersebut, CPU akan menjalankan fungsi khusus yang disebut Interrupt Service Routine (ISR) untuk menangani event tersebut. Setelah proses ISR selesai, CPU akan kembali melanjutkan eksekusi program utama dari titik sebelumnya. Konsep interrupt dapat dianalogikan seperti seseorang yang sedang bekerja di meja kemudian telepon berdering, sehingga ia menghentikan pekerjaannya sejenak untuk mengangkat telepon dan setelah selesai kembali melanjutkan pekerjaannya. Penggunaan interrupt membuat sistem menjadi lebih responsif, efisien dalam penggunaan CPU, serta mampu mendukung sistem yang bekerja secara real-time.</a:t>
            </a:r>
          </a:p>
        </p:txBody>
      </p:sp>
      <p:sp>
        <p:nvSpPr>
          <p:cNvPr name="TextBox 10" id="10"/>
          <p:cNvSpPr txBox="true"/>
          <p:nvPr/>
        </p:nvSpPr>
        <p:spPr>
          <a:xfrm rot="0">
            <a:off x="1384770" y="7299578"/>
            <a:ext cx="4405771" cy="1491361"/>
          </a:xfrm>
          <a:prstGeom prst="rect">
            <a:avLst/>
          </a:prstGeom>
        </p:spPr>
        <p:txBody>
          <a:bodyPr anchor="t" rtlCol="false" tIns="0" lIns="0" bIns="0" rIns="0">
            <a:spAutoFit/>
          </a:bodyPr>
          <a:lstStyle/>
          <a:p>
            <a:pPr algn="l">
              <a:lnSpc>
                <a:spcPts val="1951"/>
              </a:lnSpc>
            </a:pPr>
            <a:r>
              <a:rPr lang="en-US" sz="1599" spc="-33">
                <a:solidFill>
                  <a:srgbClr val="FFFFFF"/>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1" id="11"/>
          <p:cNvSpPr txBox="true"/>
          <p:nvPr/>
        </p:nvSpPr>
        <p:spPr>
          <a:xfrm rot="0">
            <a:off x="7277623" y="7299578"/>
            <a:ext cx="4405771" cy="1491361"/>
          </a:xfrm>
          <a:prstGeom prst="rect">
            <a:avLst/>
          </a:prstGeom>
        </p:spPr>
        <p:txBody>
          <a:bodyPr anchor="t" rtlCol="false" tIns="0" lIns="0" bIns="0" rIns="0">
            <a:spAutoFit/>
          </a:bodyPr>
          <a:lstStyle/>
          <a:p>
            <a:pPr algn="l">
              <a:lnSpc>
                <a:spcPts val="1951"/>
              </a:lnSpc>
            </a:pPr>
            <a:r>
              <a:rPr lang="en-US" sz="1599" spc="-33">
                <a:solidFill>
                  <a:srgbClr val="FFFFFF"/>
                </a:solidFill>
                <a:latin typeface="Aileron"/>
                <a:ea typeface="Aileron"/>
                <a:cs typeface="Aileron"/>
                <a:sym typeface="Aileron"/>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1032504" y="-239619"/>
            <a:ext cx="11490266" cy="11490266"/>
          </a:xfrm>
          <a:custGeom>
            <a:avLst/>
            <a:gdLst/>
            <a:ahLst/>
            <a:cxnLst/>
            <a:rect r="r" b="b" t="t" l="l"/>
            <a:pathLst>
              <a:path h="11490266" w="11490266">
                <a:moveTo>
                  <a:pt x="0" y="0"/>
                </a:moveTo>
                <a:lnTo>
                  <a:pt x="11490266" y="0"/>
                </a:lnTo>
                <a:lnTo>
                  <a:pt x="11490266" y="11490266"/>
                </a:lnTo>
                <a:lnTo>
                  <a:pt x="0" y="1149026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722287" y="1456459"/>
            <a:ext cx="8098110" cy="8098110"/>
          </a:xfrm>
          <a:custGeom>
            <a:avLst/>
            <a:gdLst/>
            <a:ahLst/>
            <a:cxnLst/>
            <a:rect r="r" b="b" t="t" l="l"/>
            <a:pathLst>
              <a:path h="8098110" w="8098110">
                <a:moveTo>
                  <a:pt x="0" y="0"/>
                </a:moveTo>
                <a:lnTo>
                  <a:pt x="8098110" y="0"/>
                </a:lnTo>
                <a:lnTo>
                  <a:pt x="8098110" y="8098110"/>
                </a:lnTo>
                <a:lnTo>
                  <a:pt x="0" y="8098110"/>
                </a:lnTo>
                <a:lnTo>
                  <a:pt x="0" y="0"/>
                </a:lnTo>
                <a:close/>
              </a:path>
            </a:pathLst>
          </a:custGeom>
          <a:blipFill>
            <a:blip r:embed="rId3">
              <a:alphaModFix amt="12000"/>
            </a:blip>
            <a:stretch>
              <a:fillRect l="0" t="0" r="0" b="0"/>
            </a:stretch>
          </a:blipFill>
        </p:spPr>
      </p:sp>
      <p:sp>
        <p:nvSpPr>
          <p:cNvPr name="Freeform 5" id="5"/>
          <p:cNvSpPr/>
          <p:nvPr/>
        </p:nvSpPr>
        <p:spPr>
          <a:xfrm flipH="false" flipV="true" rot="6480827">
            <a:off x="12489001" y="-3080284"/>
            <a:ext cx="5423860" cy="8217969"/>
          </a:xfrm>
          <a:custGeom>
            <a:avLst/>
            <a:gdLst/>
            <a:ahLst/>
            <a:cxnLst/>
            <a:rect r="r" b="b" t="t" l="l"/>
            <a:pathLst>
              <a:path h="8217969" w="5423860">
                <a:moveTo>
                  <a:pt x="0" y="8217968"/>
                </a:moveTo>
                <a:lnTo>
                  <a:pt x="5423860" y="8217968"/>
                </a:lnTo>
                <a:lnTo>
                  <a:pt x="5423860" y="0"/>
                </a:lnTo>
                <a:lnTo>
                  <a:pt x="0" y="0"/>
                </a:lnTo>
                <a:lnTo>
                  <a:pt x="0" y="8217968"/>
                </a:lnTo>
                <a:close/>
              </a:path>
            </a:pathLst>
          </a:custGeom>
          <a:blipFill>
            <a:blip r:embed="rId4">
              <a:alphaModFix amt="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514512" y="458966"/>
            <a:ext cx="12354925" cy="5345431"/>
          </a:xfrm>
          <a:prstGeom prst="rect">
            <a:avLst/>
          </a:prstGeom>
        </p:spPr>
        <p:txBody>
          <a:bodyPr anchor="t" rtlCol="false" tIns="0" lIns="0" bIns="0" rIns="0">
            <a:spAutoFit/>
          </a:bodyPr>
          <a:lstStyle/>
          <a:p>
            <a:pPr algn="l">
              <a:lnSpc>
                <a:spcPts val="13860"/>
              </a:lnSpc>
            </a:pPr>
            <a:r>
              <a:rPr lang="en-US" sz="14000" spc="-1316" b="true">
                <a:solidFill>
                  <a:srgbClr val="FFFFFF"/>
                </a:solidFill>
                <a:latin typeface="Canva Sans Bold"/>
                <a:ea typeface="Canva Sans Bold"/>
                <a:cs typeface="Canva Sans Bold"/>
                <a:sym typeface="Canva Sans Bold"/>
              </a:rPr>
              <a:t>Perbandingan Polling vs Interrupt</a:t>
            </a:r>
          </a:p>
        </p:txBody>
      </p:sp>
      <p:sp>
        <p:nvSpPr>
          <p:cNvPr name="TextBox 7" id="7"/>
          <p:cNvSpPr txBox="true"/>
          <p:nvPr/>
        </p:nvSpPr>
        <p:spPr>
          <a:xfrm rot="0">
            <a:off x="9420668" y="2979282"/>
            <a:ext cx="7838632" cy="6861175"/>
          </a:xfrm>
          <a:prstGeom prst="rect">
            <a:avLst/>
          </a:prstGeom>
        </p:spPr>
        <p:txBody>
          <a:bodyPr anchor="t" rtlCol="false" tIns="0" lIns="0" bIns="0" rIns="0">
            <a:spAutoFit/>
          </a:bodyPr>
          <a:lstStyle/>
          <a:p>
            <a:pPr algn="l">
              <a:lnSpc>
                <a:spcPts val="3049"/>
              </a:lnSpc>
            </a:pPr>
            <a:r>
              <a:rPr lang="en-US" sz="2499" spc="-52">
                <a:solidFill>
                  <a:srgbClr val="FFFFFF"/>
                </a:solidFill>
                <a:latin typeface="Aileron Light"/>
                <a:ea typeface="Aileron Light"/>
                <a:cs typeface="Aileron Light"/>
                <a:sym typeface="Aileron Light"/>
              </a:rPr>
              <a:t>Dalam sistem embedded terdapat dua metode utama untuk mendeteksi suatu kejadian dari perangkat keras, yaitu polling dan interrupt. Metode polling bekerja dengan cara CPU secara terus-menerus memeriksa status suatu perangkat atau sensor untuk mengetahui apakah terjadi perubahan kondisi. Cara ini cukup sederhana untuk diimplementasikan, namun memiliki kelemahan karena CPU harus terus bekerja hanya untuk melakukan pengecekan, sehingga penggunaan sumber daya menjadi kurang efisien. Sebaliknya, metode interrupt bekerja dengan cara perangkat keras akan mengirimkan sinyal kepada CPU ketika suatu event terjadi. Dengan cara ini CPU tidak perlu melakukan pengecekan secara terus-menerus dan hanya akan merespons ketika benar-benar ada kejadian yang perlu ditangani. Oleh karena itu, penggunaan interrupt biasanya lebih efisien dan mampu memberikan respons yang lebih cepat dibandingkan polling, terutama pada sistem embedded yang membutuhkan kemampuan real-time.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525C"/>
        </a:solidFill>
      </p:bgPr>
    </p:bg>
    <p:spTree>
      <p:nvGrpSpPr>
        <p:cNvPr id="1" name=""/>
        <p:cNvGrpSpPr/>
        <p:nvPr/>
      </p:nvGrpSpPr>
      <p:grpSpPr>
        <a:xfrm>
          <a:off x="0" y="0"/>
          <a:ext cx="0" cy="0"/>
          <a:chOff x="0" y="0"/>
          <a:chExt cx="0" cy="0"/>
        </a:xfrm>
      </p:grpSpPr>
      <p:sp>
        <p:nvSpPr>
          <p:cNvPr name="Freeform 2" id="2"/>
          <p:cNvSpPr/>
          <p:nvPr/>
        </p:nvSpPr>
        <p:spPr>
          <a:xfrm flipH="false" flipV="false" rot="5120089">
            <a:off x="-3021265" y="-3988519"/>
            <a:ext cx="13529234" cy="13529234"/>
          </a:xfrm>
          <a:custGeom>
            <a:avLst/>
            <a:gdLst/>
            <a:ahLst/>
            <a:cxnLst/>
            <a:rect r="r" b="b" t="t" l="l"/>
            <a:pathLst>
              <a:path h="13529234" w="13529234">
                <a:moveTo>
                  <a:pt x="0" y="0"/>
                </a:moveTo>
                <a:lnTo>
                  <a:pt x="13529234" y="0"/>
                </a:lnTo>
                <a:lnTo>
                  <a:pt x="13529234" y="13529234"/>
                </a:lnTo>
                <a:lnTo>
                  <a:pt x="0" y="13529234"/>
                </a:lnTo>
                <a:lnTo>
                  <a:pt x="0" y="0"/>
                </a:lnTo>
                <a:close/>
              </a:path>
            </a:pathLst>
          </a:custGeom>
          <a:blipFill>
            <a:blip r:embed="rId2">
              <a:alphaModFix amt="6000"/>
            </a:blip>
            <a:stretch>
              <a:fillRect l="0" t="0" r="0" b="0"/>
            </a:stretch>
          </a:blipFill>
        </p:spPr>
      </p:sp>
      <p:sp>
        <p:nvSpPr>
          <p:cNvPr name="Freeform 3" id="3"/>
          <p:cNvSpPr/>
          <p:nvPr/>
        </p:nvSpPr>
        <p:spPr>
          <a:xfrm flipH="false" flipV="false" rot="5120089">
            <a:off x="-848034" y="-2084840"/>
            <a:ext cx="8981122" cy="8981122"/>
          </a:xfrm>
          <a:custGeom>
            <a:avLst/>
            <a:gdLst/>
            <a:ahLst/>
            <a:cxnLst/>
            <a:rect r="r" b="b" t="t" l="l"/>
            <a:pathLst>
              <a:path h="8981122" w="8981122">
                <a:moveTo>
                  <a:pt x="0" y="0"/>
                </a:moveTo>
                <a:lnTo>
                  <a:pt x="8981122" y="0"/>
                </a:lnTo>
                <a:lnTo>
                  <a:pt x="8981122" y="8981122"/>
                </a:lnTo>
                <a:lnTo>
                  <a:pt x="0" y="8981122"/>
                </a:lnTo>
                <a:lnTo>
                  <a:pt x="0" y="0"/>
                </a:lnTo>
                <a:close/>
              </a:path>
            </a:pathLst>
          </a:custGeom>
          <a:blipFill>
            <a:blip r:embed="rId2">
              <a:alphaModFix amt="12000"/>
            </a:blip>
            <a:stretch>
              <a:fillRect l="0" t="0" r="0" b="0"/>
            </a:stretch>
          </a:blipFill>
        </p:spPr>
      </p:sp>
      <p:grpSp>
        <p:nvGrpSpPr>
          <p:cNvPr name="Group 4" id="4"/>
          <p:cNvGrpSpPr/>
          <p:nvPr/>
        </p:nvGrpSpPr>
        <p:grpSpPr>
          <a:xfrm rot="0">
            <a:off x="7438195" y="706101"/>
            <a:ext cx="10139346" cy="8552199"/>
            <a:chOff x="0" y="0"/>
            <a:chExt cx="2670445" cy="2252431"/>
          </a:xfrm>
        </p:grpSpPr>
        <p:sp>
          <p:nvSpPr>
            <p:cNvPr name="Freeform 5" id="5"/>
            <p:cNvSpPr/>
            <p:nvPr/>
          </p:nvSpPr>
          <p:spPr>
            <a:xfrm flipH="false" flipV="false" rot="0">
              <a:off x="0" y="0"/>
              <a:ext cx="2670445" cy="2252431"/>
            </a:xfrm>
            <a:custGeom>
              <a:avLst/>
              <a:gdLst/>
              <a:ahLst/>
              <a:cxnLst/>
              <a:rect r="r" b="b" t="t" l="l"/>
              <a:pathLst>
                <a:path h="2252431" w="2670445">
                  <a:moveTo>
                    <a:pt x="26724" y="0"/>
                  </a:moveTo>
                  <a:lnTo>
                    <a:pt x="2643721" y="0"/>
                  </a:lnTo>
                  <a:cubicBezTo>
                    <a:pt x="2650808" y="0"/>
                    <a:pt x="2657606" y="2816"/>
                    <a:pt x="2662618" y="7827"/>
                  </a:cubicBezTo>
                  <a:cubicBezTo>
                    <a:pt x="2667629" y="12839"/>
                    <a:pt x="2670445" y="19637"/>
                    <a:pt x="2670445" y="26724"/>
                  </a:cubicBezTo>
                  <a:lnTo>
                    <a:pt x="2670445" y="2225707"/>
                  </a:lnTo>
                  <a:cubicBezTo>
                    <a:pt x="2670445" y="2232795"/>
                    <a:pt x="2667629" y="2239592"/>
                    <a:pt x="2662618" y="2244604"/>
                  </a:cubicBezTo>
                  <a:cubicBezTo>
                    <a:pt x="2657606" y="2249616"/>
                    <a:pt x="2650808" y="2252431"/>
                    <a:pt x="2643721" y="2252431"/>
                  </a:cubicBezTo>
                  <a:lnTo>
                    <a:pt x="26724" y="2252431"/>
                  </a:lnTo>
                  <a:cubicBezTo>
                    <a:pt x="19637" y="2252431"/>
                    <a:pt x="12839" y="2249616"/>
                    <a:pt x="7827" y="2244604"/>
                  </a:cubicBezTo>
                  <a:cubicBezTo>
                    <a:pt x="2816" y="2239592"/>
                    <a:pt x="0" y="2232795"/>
                    <a:pt x="0" y="2225707"/>
                  </a:cubicBezTo>
                  <a:lnTo>
                    <a:pt x="0" y="26724"/>
                  </a:lnTo>
                  <a:cubicBezTo>
                    <a:pt x="0" y="19637"/>
                    <a:pt x="2816" y="12839"/>
                    <a:pt x="7827" y="7827"/>
                  </a:cubicBezTo>
                  <a:cubicBezTo>
                    <a:pt x="12839" y="2816"/>
                    <a:pt x="19637" y="0"/>
                    <a:pt x="26724" y="0"/>
                  </a:cubicBezTo>
                  <a:close/>
                </a:path>
              </a:pathLst>
            </a:custGeom>
            <a:solidFill>
              <a:srgbClr val="FFFFFF"/>
            </a:solidFill>
            <a:ln w="19050" cap="rnd">
              <a:solidFill>
                <a:srgbClr val="FFFFFF"/>
              </a:solidFill>
              <a:prstDash val="solid"/>
              <a:round/>
            </a:ln>
          </p:spPr>
        </p:sp>
        <p:sp>
          <p:nvSpPr>
            <p:cNvPr name="TextBox 6" id="6"/>
            <p:cNvSpPr txBox="true"/>
            <p:nvPr/>
          </p:nvSpPr>
          <p:spPr>
            <a:xfrm>
              <a:off x="0" y="85725"/>
              <a:ext cx="2670445" cy="2166706"/>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568605" y="2536183"/>
            <a:ext cx="6869590" cy="4941746"/>
          </a:xfrm>
          <a:prstGeom prst="rect">
            <a:avLst/>
          </a:prstGeom>
        </p:spPr>
        <p:txBody>
          <a:bodyPr anchor="t" rtlCol="false" tIns="0" lIns="0" bIns="0" rIns="0">
            <a:spAutoFit/>
          </a:bodyPr>
          <a:lstStyle/>
          <a:p>
            <a:pPr algn="l">
              <a:lnSpc>
                <a:spcPts val="12797"/>
              </a:lnSpc>
            </a:pPr>
            <a:r>
              <a:rPr lang="en-US" sz="12927" spc="-1215" b="true">
                <a:solidFill>
                  <a:srgbClr val="FFFFFF"/>
                </a:solidFill>
                <a:latin typeface="Canva Sans Bold"/>
                <a:ea typeface="Canva Sans Bold"/>
                <a:cs typeface="Canva Sans Bold"/>
                <a:sym typeface="Canva Sans Bold"/>
              </a:rPr>
              <a:t>Alur Proses Interrupt</a:t>
            </a:r>
          </a:p>
        </p:txBody>
      </p:sp>
      <p:sp>
        <p:nvSpPr>
          <p:cNvPr name="TextBox 8" id="8"/>
          <p:cNvSpPr txBox="true"/>
          <p:nvPr/>
        </p:nvSpPr>
        <p:spPr>
          <a:xfrm rot="0">
            <a:off x="7930890" y="925176"/>
            <a:ext cx="8788447" cy="7887535"/>
          </a:xfrm>
          <a:prstGeom prst="rect">
            <a:avLst/>
          </a:prstGeom>
        </p:spPr>
        <p:txBody>
          <a:bodyPr anchor="t" rtlCol="false" tIns="0" lIns="0" bIns="0" rIns="0">
            <a:spAutoFit/>
          </a:bodyPr>
          <a:lstStyle/>
          <a:p>
            <a:pPr algn="l">
              <a:lnSpc>
                <a:spcPts val="3452"/>
              </a:lnSpc>
            </a:pPr>
            <a:r>
              <a:rPr lang="en-US" sz="2830" spc="-59">
                <a:solidFill>
                  <a:srgbClr val="163B42"/>
                </a:solidFill>
                <a:latin typeface="Aileron Light"/>
                <a:ea typeface="Aileron Light"/>
                <a:cs typeface="Aileron Light"/>
                <a:sym typeface="Aileron Light"/>
              </a:rPr>
              <a:t>Proses interrupt pada mikrokontroler terjadi melalui beberapa tahapan yang berlangsung secara berurutan. Awalnya CPU menjalankan program utama secara normal sesuai dengan instruksi yang telah diprogram. Ketika suatu event terjadi, seperti tombol ditekan, timer mencapai nilai tertentu, atau data diterima dari perangkat komunikasi, maka perangkat tersebut akan mengirimkan sinyal interrupt kepada CPU. Setelah menerima sinyal tersebut, CPU akan menghentikan sementara eksekusi program utama dan menyimpan kondisi program yang sedang berjalan. Selanjutnya CPU akan menjalankan Interrupt Service Routine (ISR) yang berisi instruksi untuk menangani event yang terjadi. Setelah ISR selesai dijalankan, CPU akan mengembalikan kondisi sistem seperti sebelumnya dan melanjutkan kembali eksekusi program utama. Dengan mekanisme ini sistem dapat merespons berbagai kejadian secara cepat tanpa mengganggu alur utama program secara permanen.</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6146271">
            <a:off x="5411574" y="-5966036"/>
            <a:ext cx="8137868" cy="81378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6146271">
            <a:off x="4419996" y="-1924472"/>
            <a:ext cx="2365580" cy="23655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2155373" y="3703731"/>
            <a:ext cx="13977255" cy="5809980"/>
            <a:chOff x="0" y="0"/>
            <a:chExt cx="3681252" cy="1530200"/>
          </a:xfrm>
        </p:grpSpPr>
        <p:sp>
          <p:nvSpPr>
            <p:cNvPr name="Freeform 9" id="9"/>
            <p:cNvSpPr/>
            <p:nvPr/>
          </p:nvSpPr>
          <p:spPr>
            <a:xfrm flipH="false" flipV="false" rot="0">
              <a:off x="0" y="0"/>
              <a:ext cx="3681252" cy="1530200"/>
            </a:xfrm>
            <a:custGeom>
              <a:avLst/>
              <a:gdLst/>
              <a:ahLst/>
              <a:cxnLst/>
              <a:rect r="r" b="b" t="t" l="l"/>
              <a:pathLst>
                <a:path h="1530200" w="3681252">
                  <a:moveTo>
                    <a:pt x="18832" y="0"/>
                  </a:moveTo>
                  <a:lnTo>
                    <a:pt x="3662420" y="0"/>
                  </a:lnTo>
                  <a:cubicBezTo>
                    <a:pt x="3667415" y="0"/>
                    <a:pt x="3672205" y="1984"/>
                    <a:pt x="3675736" y="5516"/>
                  </a:cubicBezTo>
                  <a:cubicBezTo>
                    <a:pt x="3679268" y="9048"/>
                    <a:pt x="3681252" y="13838"/>
                    <a:pt x="3681252" y="18832"/>
                  </a:cubicBezTo>
                  <a:lnTo>
                    <a:pt x="3681252" y="1511368"/>
                  </a:lnTo>
                  <a:cubicBezTo>
                    <a:pt x="3681252" y="1521769"/>
                    <a:pt x="3672821" y="1530200"/>
                    <a:pt x="3662420" y="1530200"/>
                  </a:cubicBezTo>
                  <a:lnTo>
                    <a:pt x="18832" y="1530200"/>
                  </a:lnTo>
                  <a:cubicBezTo>
                    <a:pt x="13838" y="1530200"/>
                    <a:pt x="9048" y="1528216"/>
                    <a:pt x="5516" y="1524685"/>
                  </a:cubicBezTo>
                  <a:cubicBezTo>
                    <a:pt x="1984" y="1521153"/>
                    <a:pt x="0" y="1516363"/>
                    <a:pt x="0" y="1511368"/>
                  </a:cubicBezTo>
                  <a:lnTo>
                    <a:pt x="0" y="18832"/>
                  </a:lnTo>
                  <a:cubicBezTo>
                    <a:pt x="0" y="13838"/>
                    <a:pt x="1984" y="9048"/>
                    <a:pt x="5516" y="5516"/>
                  </a:cubicBezTo>
                  <a:cubicBezTo>
                    <a:pt x="9048" y="1984"/>
                    <a:pt x="13838" y="0"/>
                    <a:pt x="18832" y="0"/>
                  </a:cubicBezTo>
                  <a:close/>
                </a:path>
              </a:pathLst>
            </a:custGeom>
            <a:gradFill rotWithShape="true">
              <a:gsLst>
                <a:gs pos="0">
                  <a:srgbClr val="3B6261">
                    <a:alpha val="93000"/>
                  </a:srgbClr>
                </a:gs>
                <a:gs pos="100000">
                  <a:srgbClr val="6F9F97">
                    <a:alpha val="93000"/>
                  </a:srgbClr>
                </a:gs>
              </a:gsLst>
              <a:lin ang="0"/>
            </a:gradFill>
            <a:ln w="19050" cap="rnd">
              <a:solidFill>
                <a:srgbClr val="163B42">
                  <a:alpha val="92941"/>
                </a:srgbClr>
              </a:solidFill>
              <a:prstDash val="solid"/>
              <a:round/>
            </a:ln>
          </p:spPr>
        </p:sp>
        <p:sp>
          <p:nvSpPr>
            <p:cNvPr name="TextBox 10" id="10"/>
            <p:cNvSpPr txBox="true"/>
            <p:nvPr/>
          </p:nvSpPr>
          <p:spPr>
            <a:xfrm>
              <a:off x="0" y="19050"/>
              <a:ext cx="3681252" cy="1511150"/>
            </a:xfrm>
            <a:prstGeom prst="rect">
              <a:avLst/>
            </a:prstGeom>
          </p:spPr>
          <p:txBody>
            <a:bodyPr anchor="ctr" rtlCol="false" tIns="50800" lIns="50800" bIns="50800" rIns="50800"/>
            <a:lstStyle/>
            <a:p>
              <a:pPr algn="ctr" marL="0" indent="0" lvl="0">
                <a:lnSpc>
                  <a:spcPts val="2160"/>
                </a:lnSpc>
                <a:spcBef>
                  <a:spcPct val="0"/>
                </a:spcBef>
              </a:pPr>
            </a:p>
          </p:txBody>
        </p:sp>
      </p:grpSp>
      <p:sp>
        <p:nvSpPr>
          <p:cNvPr name="TextBox 11" id="11"/>
          <p:cNvSpPr txBox="true"/>
          <p:nvPr/>
        </p:nvSpPr>
        <p:spPr>
          <a:xfrm rot="0">
            <a:off x="4193006" y="858598"/>
            <a:ext cx="8453076" cy="2465834"/>
          </a:xfrm>
          <a:prstGeom prst="rect">
            <a:avLst/>
          </a:prstGeom>
        </p:spPr>
        <p:txBody>
          <a:bodyPr anchor="t" rtlCol="false" tIns="0" lIns="0" bIns="0" rIns="0">
            <a:spAutoFit/>
          </a:bodyPr>
          <a:lstStyle/>
          <a:p>
            <a:pPr algn="ctr">
              <a:lnSpc>
                <a:spcPts val="9504"/>
              </a:lnSpc>
            </a:pPr>
            <a:r>
              <a:rPr lang="en-US" b="true" sz="9600" spc="-902">
                <a:solidFill>
                  <a:srgbClr val="163B42"/>
                </a:solidFill>
                <a:latin typeface="Canva Sans Bold"/>
                <a:ea typeface="Canva Sans Bold"/>
                <a:cs typeface="Canva Sans Bold"/>
                <a:sym typeface="Canva Sans Bold"/>
              </a:rPr>
              <a:t>Jenis-jenis Interrupt</a:t>
            </a:r>
          </a:p>
        </p:txBody>
      </p:sp>
      <p:sp>
        <p:nvSpPr>
          <p:cNvPr name="TextBox 12" id="12"/>
          <p:cNvSpPr txBox="true"/>
          <p:nvPr/>
        </p:nvSpPr>
        <p:spPr>
          <a:xfrm rot="0">
            <a:off x="2632437" y="3973543"/>
            <a:ext cx="13267548" cy="5840603"/>
          </a:xfrm>
          <a:prstGeom prst="rect">
            <a:avLst/>
          </a:prstGeom>
        </p:spPr>
        <p:txBody>
          <a:bodyPr anchor="t" rtlCol="false" tIns="0" lIns="0" bIns="0" rIns="0">
            <a:spAutoFit/>
          </a:bodyPr>
          <a:lstStyle/>
          <a:p>
            <a:pPr algn="l">
              <a:lnSpc>
                <a:spcPts val="3293"/>
              </a:lnSpc>
            </a:pPr>
            <a:r>
              <a:rPr lang="en-US" sz="2699" spc="-56">
                <a:solidFill>
                  <a:srgbClr val="FFFFFF"/>
                </a:solidFill>
                <a:latin typeface="Aileron"/>
                <a:ea typeface="Aileron"/>
                <a:cs typeface="Aileron"/>
                <a:sym typeface="Aileron"/>
              </a:rPr>
              <a:t>Interrupt pada mikrokontroler dapat diklasifikasikan menjadi beberapa jenis berdasarkan sumber, prioritas, dan metode pemicuannya. Berdasarkan sumbernya, interrupt dibagi menjadi external interrupt, internal interrupt, dan software interrupt. External interrupt berasal dari perangkat eksternal seperti tombol atau sensor yang terhubung ke pin GPIO. Internal interrupt berasal dari peripheral internal mikrokontroler seperti timer, ADC, atau modul komunikasi seperti UART. Sedangkan software interrupt merupakan interrupt yang dipicu oleh instruksi program untuk menjalankan fungsi tertentu. Berdasarkan prioritasnya, interrupt dapat dibedakan menjadi non-maskable interrupt (NMI) dan maskable interrupt. NMI merupakan interrupt dengan prioritas sangat tinggi yang tidak dapat dinonaktifkan, sedangkan maskable interrupt dapat diaktifkan atau dinonaktifkan sesuai kebutuhan program. Selain itu, berdasarkan metode pemicuannya interrupt dapat berupa edge-triggered yang dipicu oleh perubahan sinyal, maupun level-triggered yang dipicu oleh kondisi level logika tertentu.</a:t>
            </a:r>
          </a:p>
          <a:p>
            <a:pPr algn="l">
              <a:lnSpc>
                <a:spcPts val="414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1032504" y="-239619"/>
            <a:ext cx="11490266" cy="11490266"/>
          </a:xfrm>
          <a:custGeom>
            <a:avLst/>
            <a:gdLst/>
            <a:ahLst/>
            <a:cxnLst/>
            <a:rect r="r" b="b" t="t" l="l"/>
            <a:pathLst>
              <a:path h="11490266" w="11490266">
                <a:moveTo>
                  <a:pt x="0" y="0"/>
                </a:moveTo>
                <a:lnTo>
                  <a:pt x="11490266" y="0"/>
                </a:lnTo>
                <a:lnTo>
                  <a:pt x="11490266" y="11490266"/>
                </a:lnTo>
                <a:lnTo>
                  <a:pt x="0" y="1149026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722287" y="1456459"/>
            <a:ext cx="8098110" cy="8098110"/>
          </a:xfrm>
          <a:custGeom>
            <a:avLst/>
            <a:gdLst/>
            <a:ahLst/>
            <a:cxnLst/>
            <a:rect r="r" b="b" t="t" l="l"/>
            <a:pathLst>
              <a:path h="8098110" w="8098110">
                <a:moveTo>
                  <a:pt x="0" y="0"/>
                </a:moveTo>
                <a:lnTo>
                  <a:pt x="8098110" y="0"/>
                </a:lnTo>
                <a:lnTo>
                  <a:pt x="8098110" y="8098110"/>
                </a:lnTo>
                <a:lnTo>
                  <a:pt x="0" y="8098110"/>
                </a:lnTo>
                <a:lnTo>
                  <a:pt x="0" y="0"/>
                </a:lnTo>
                <a:close/>
              </a:path>
            </a:pathLst>
          </a:custGeom>
          <a:blipFill>
            <a:blip r:embed="rId3">
              <a:alphaModFix amt="12000"/>
            </a:blip>
            <a:stretch>
              <a:fillRect l="0" t="0" r="0" b="0"/>
            </a:stretch>
          </a:blipFill>
        </p:spPr>
      </p:sp>
      <p:sp>
        <p:nvSpPr>
          <p:cNvPr name="Freeform 5" id="5"/>
          <p:cNvSpPr/>
          <p:nvPr/>
        </p:nvSpPr>
        <p:spPr>
          <a:xfrm flipH="false" flipV="true" rot="6480827">
            <a:off x="12489001" y="-3080284"/>
            <a:ext cx="5423860" cy="8217969"/>
          </a:xfrm>
          <a:custGeom>
            <a:avLst/>
            <a:gdLst/>
            <a:ahLst/>
            <a:cxnLst/>
            <a:rect r="r" b="b" t="t" l="l"/>
            <a:pathLst>
              <a:path h="8217969" w="5423860">
                <a:moveTo>
                  <a:pt x="0" y="8217968"/>
                </a:moveTo>
                <a:lnTo>
                  <a:pt x="5423860" y="8217968"/>
                </a:lnTo>
                <a:lnTo>
                  <a:pt x="5423860" y="0"/>
                </a:lnTo>
                <a:lnTo>
                  <a:pt x="0" y="0"/>
                </a:lnTo>
                <a:lnTo>
                  <a:pt x="0" y="8217968"/>
                </a:lnTo>
                <a:close/>
              </a:path>
            </a:pathLst>
          </a:custGeom>
          <a:blipFill>
            <a:blip r:embed="rId4">
              <a:alphaModFix amt="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110674" y="1725000"/>
            <a:ext cx="7148626" cy="3592831"/>
          </a:xfrm>
          <a:prstGeom prst="rect">
            <a:avLst/>
          </a:prstGeom>
        </p:spPr>
        <p:txBody>
          <a:bodyPr anchor="t" rtlCol="false" tIns="0" lIns="0" bIns="0" rIns="0">
            <a:spAutoFit/>
          </a:bodyPr>
          <a:lstStyle/>
          <a:p>
            <a:pPr algn="l">
              <a:lnSpc>
                <a:spcPts val="13860"/>
              </a:lnSpc>
            </a:pPr>
            <a:r>
              <a:rPr lang="en-US" sz="14000" spc="-1316" b="true">
                <a:solidFill>
                  <a:srgbClr val="FFFFFF"/>
                </a:solidFill>
                <a:latin typeface="Canva Sans Bold"/>
                <a:ea typeface="Canva Sans Bold"/>
                <a:cs typeface="Canva Sans Bold"/>
                <a:sym typeface="Canva Sans Bold"/>
              </a:rPr>
              <a:t>Arsitektur Timer</a:t>
            </a:r>
          </a:p>
        </p:txBody>
      </p:sp>
      <p:sp>
        <p:nvSpPr>
          <p:cNvPr name="TextBox 7" id="7"/>
          <p:cNvSpPr txBox="true"/>
          <p:nvPr/>
        </p:nvSpPr>
        <p:spPr>
          <a:xfrm rot="0">
            <a:off x="1028700" y="1246760"/>
            <a:ext cx="8910144" cy="8507984"/>
          </a:xfrm>
          <a:prstGeom prst="rect">
            <a:avLst/>
          </a:prstGeom>
        </p:spPr>
        <p:txBody>
          <a:bodyPr anchor="t" rtlCol="false" tIns="0" lIns="0" bIns="0" rIns="0">
            <a:spAutoFit/>
          </a:bodyPr>
          <a:lstStyle/>
          <a:p>
            <a:pPr algn="l">
              <a:lnSpc>
                <a:spcPts val="3537"/>
              </a:lnSpc>
            </a:pPr>
            <a:r>
              <a:rPr lang="en-US" sz="2899" spc="-60">
                <a:solidFill>
                  <a:srgbClr val="FFFFFF"/>
                </a:solidFill>
                <a:latin typeface="Aileron Light"/>
                <a:ea typeface="Aileron Light"/>
                <a:cs typeface="Aileron Light"/>
                <a:sym typeface="Aileron Light"/>
              </a:rPr>
              <a:t>Timer merupakan salah satu peripheral penting dalam mikrokontroler yang digunakan untuk mengukur waktu, membuat delay, atau menghasilkan sinyal periodik. Timer bekerja dengan memanfaatkan sinyal clock internal yang kemudian dihitung secara terus-menerus oleh sebuah counter. Dalam arsitektur timer terdapat beberapa komponen utama yang saling bekerja sama, yaitu clock source sebagai sumber sinyal waktu, prescaler yang berfungsi membagi frekuensi clock agar sesuai dengan kebutuhan sistem, serta counter yang berfungsi menghitung pulsa clock. Selain itu terdapat juga register pembanding atau auto reload register yang menentukan batas nilai perhitungan counter sebelum terjadi overflow. Ketika counter mencapai nilai tertentu, timer dapat menghasilkan interrupt atau sinyal output seperti PWM. Timer banyak digunakan dalam berbagai aplikasi embedded seperti pembuatan delay, pengaturan waktu pada sistem real-time, serta pengendalian motor melalui sinyal PWM.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8975831" y="-861914"/>
            <a:ext cx="10768546" cy="10768546"/>
          </a:xfrm>
          <a:custGeom>
            <a:avLst/>
            <a:gdLst/>
            <a:ahLst/>
            <a:cxnLst/>
            <a:rect r="r" b="b" t="t" l="l"/>
            <a:pathLst>
              <a:path h="10768546" w="10768546">
                <a:moveTo>
                  <a:pt x="0" y="0"/>
                </a:moveTo>
                <a:lnTo>
                  <a:pt x="10768546" y="0"/>
                </a:lnTo>
                <a:lnTo>
                  <a:pt x="10768546" y="10768546"/>
                </a:lnTo>
                <a:lnTo>
                  <a:pt x="0" y="1076854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6661901" y="-2841859"/>
            <a:ext cx="6332329" cy="6332329"/>
          </a:xfrm>
          <a:custGeom>
            <a:avLst/>
            <a:gdLst/>
            <a:ahLst/>
            <a:cxnLst/>
            <a:rect r="r" b="b" t="t" l="l"/>
            <a:pathLst>
              <a:path h="6332329" w="6332329">
                <a:moveTo>
                  <a:pt x="0" y="0"/>
                </a:moveTo>
                <a:lnTo>
                  <a:pt x="6332330" y="0"/>
                </a:lnTo>
                <a:lnTo>
                  <a:pt x="6332330" y="6332330"/>
                </a:lnTo>
                <a:lnTo>
                  <a:pt x="0" y="6332330"/>
                </a:lnTo>
                <a:lnTo>
                  <a:pt x="0" y="0"/>
                </a:lnTo>
                <a:close/>
              </a:path>
            </a:pathLst>
          </a:custGeom>
          <a:blipFill>
            <a:blip r:embed="rId3">
              <a:alphaModFix amt="12000"/>
            </a:blip>
            <a:stretch>
              <a:fillRect l="0" t="0" r="0" b="0"/>
            </a:stretch>
          </a:blipFill>
        </p:spPr>
      </p:sp>
      <p:sp>
        <p:nvSpPr>
          <p:cNvPr name="TextBox 5" id="5"/>
          <p:cNvSpPr txBox="true"/>
          <p:nvPr/>
        </p:nvSpPr>
        <p:spPr>
          <a:xfrm rot="0">
            <a:off x="774700" y="2988364"/>
            <a:ext cx="6693769" cy="4866132"/>
          </a:xfrm>
          <a:prstGeom prst="rect">
            <a:avLst/>
          </a:prstGeom>
        </p:spPr>
        <p:txBody>
          <a:bodyPr anchor="t" rtlCol="false" tIns="0" lIns="0" bIns="0" rIns="0">
            <a:spAutoFit/>
          </a:bodyPr>
          <a:lstStyle/>
          <a:p>
            <a:pPr algn="l">
              <a:lnSpc>
                <a:spcPts val="9504"/>
              </a:lnSpc>
            </a:pPr>
            <a:r>
              <a:rPr lang="en-US" sz="9600" spc="-902" b="true">
                <a:solidFill>
                  <a:srgbClr val="FFFFFF"/>
                </a:solidFill>
                <a:latin typeface="Canva Sans Bold"/>
                <a:ea typeface="Canva Sans Bold"/>
                <a:cs typeface="Canva Sans Bold"/>
                <a:sym typeface="Canva Sans Bold"/>
              </a:rPr>
              <a:t>Konfigurasi timer pada STM32 dan ESP32</a:t>
            </a:r>
          </a:p>
        </p:txBody>
      </p:sp>
      <p:grpSp>
        <p:nvGrpSpPr>
          <p:cNvPr name="Group 6" id="6"/>
          <p:cNvGrpSpPr/>
          <p:nvPr/>
        </p:nvGrpSpPr>
        <p:grpSpPr>
          <a:xfrm rot="0">
            <a:off x="8168205" y="894461"/>
            <a:ext cx="9364490" cy="8498079"/>
            <a:chOff x="0" y="0"/>
            <a:chExt cx="2466368" cy="2238177"/>
          </a:xfrm>
        </p:grpSpPr>
        <p:sp>
          <p:nvSpPr>
            <p:cNvPr name="Freeform 7" id="7"/>
            <p:cNvSpPr/>
            <p:nvPr/>
          </p:nvSpPr>
          <p:spPr>
            <a:xfrm flipH="false" flipV="false" rot="0">
              <a:off x="0" y="0"/>
              <a:ext cx="2466368" cy="2238177"/>
            </a:xfrm>
            <a:custGeom>
              <a:avLst/>
              <a:gdLst/>
              <a:ahLst/>
              <a:cxnLst/>
              <a:rect r="r" b="b" t="t" l="l"/>
              <a:pathLst>
                <a:path h="2238177" w="2466368">
                  <a:moveTo>
                    <a:pt x="28936" y="0"/>
                  </a:moveTo>
                  <a:lnTo>
                    <a:pt x="2437432" y="0"/>
                  </a:lnTo>
                  <a:cubicBezTo>
                    <a:pt x="2453413" y="0"/>
                    <a:pt x="2466368" y="12955"/>
                    <a:pt x="2466368" y="28936"/>
                  </a:cubicBezTo>
                  <a:lnTo>
                    <a:pt x="2466368" y="2209242"/>
                  </a:lnTo>
                  <a:cubicBezTo>
                    <a:pt x="2466368" y="2225222"/>
                    <a:pt x="2453413" y="2238177"/>
                    <a:pt x="2437432" y="2238177"/>
                  </a:cubicBezTo>
                  <a:lnTo>
                    <a:pt x="28936" y="2238177"/>
                  </a:lnTo>
                  <a:cubicBezTo>
                    <a:pt x="12955" y="2238177"/>
                    <a:pt x="0" y="2225222"/>
                    <a:pt x="0" y="2209242"/>
                  </a:cubicBezTo>
                  <a:lnTo>
                    <a:pt x="0" y="28936"/>
                  </a:lnTo>
                  <a:cubicBezTo>
                    <a:pt x="0" y="12955"/>
                    <a:pt x="12955" y="0"/>
                    <a:pt x="28936"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8" id="8"/>
            <p:cNvSpPr txBox="true"/>
            <p:nvPr/>
          </p:nvSpPr>
          <p:spPr>
            <a:xfrm>
              <a:off x="0" y="85725"/>
              <a:ext cx="2466368" cy="215245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8382461" y="1104900"/>
            <a:ext cx="3430303" cy="1669738"/>
          </a:xfrm>
          <a:prstGeom prst="rect">
            <a:avLst/>
          </a:prstGeom>
        </p:spPr>
        <p:txBody>
          <a:bodyPr anchor="t" rtlCol="false" tIns="0" lIns="0" bIns="0" rIns="0">
            <a:spAutoFit/>
          </a:bodyPr>
          <a:lstStyle/>
          <a:p>
            <a:pPr algn="l" marL="0" indent="0" lvl="0">
              <a:lnSpc>
                <a:spcPts val="4349"/>
              </a:lnSpc>
              <a:spcBef>
                <a:spcPct val="0"/>
              </a:spcBef>
            </a:pPr>
            <a:r>
              <a:rPr lang="en-US" b="true" sz="4393" spc="-171">
                <a:solidFill>
                  <a:srgbClr val="FFFFFF"/>
                </a:solidFill>
                <a:latin typeface="Canva Sans Bold"/>
                <a:ea typeface="Canva Sans Bold"/>
                <a:cs typeface="Canva Sans Bold"/>
                <a:sym typeface="Canva Sans Bold"/>
              </a:rPr>
              <a:t>Konfigurasi Timer pada STM32</a:t>
            </a:r>
          </a:p>
        </p:txBody>
      </p:sp>
      <p:sp>
        <p:nvSpPr>
          <p:cNvPr name="TextBox 10" id="10"/>
          <p:cNvSpPr txBox="true"/>
          <p:nvPr/>
        </p:nvSpPr>
        <p:spPr>
          <a:xfrm rot="0">
            <a:off x="9039537" y="2788339"/>
            <a:ext cx="7621827" cy="6099175"/>
          </a:xfrm>
          <a:prstGeom prst="rect">
            <a:avLst/>
          </a:prstGeom>
        </p:spPr>
        <p:txBody>
          <a:bodyPr anchor="t" rtlCol="false" tIns="0" lIns="0" bIns="0" rIns="0">
            <a:spAutoFit/>
          </a:bodyPr>
          <a:lstStyle/>
          <a:p>
            <a:pPr algn="l">
              <a:lnSpc>
                <a:spcPts val="3049"/>
              </a:lnSpc>
            </a:pPr>
            <a:r>
              <a:rPr lang="en-US" sz="2499" spc="-52">
                <a:solidFill>
                  <a:srgbClr val="FFFFFF"/>
                </a:solidFill>
                <a:latin typeface="Aileron Light"/>
                <a:ea typeface="Aileron Light"/>
                <a:cs typeface="Aileron Light"/>
                <a:sym typeface="Aileron Light"/>
              </a:rPr>
              <a:t>Pada mikrokontroler STM32, timer digunakan untuk mengatur waktu, membuat delay, menghasilkan sinyal PWM, dan memicu interrupt secara periodik. Agar timer dapat bekerja dengan baik, diperlukan konfigurasi beberapa parameter utama seperti clock source, prescaler, counter, dan auto-reload register. Clock source berfungsi sebagai sumber sinyal waktu, sedangkan prescaler digunakan untuk membagi frekuensi clock sehingga kecepatan timer dapat disesuaikan. Counter akan menghitung pulsa clock hingga mencapai nilai yang telah ditentukan pada auto-reload register. Ketika nilai tersebut tercapai, timer dapat menghasilkan event seperti interrupt atau sinyal output. Konfigurasi timer pada STM32 biasanya dilakukan menggunakan software seperti STM32CubeMX atau melalui pemrograman langsung pada register mikrokontroler.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8975831" y="-861914"/>
            <a:ext cx="10768546" cy="10768546"/>
          </a:xfrm>
          <a:custGeom>
            <a:avLst/>
            <a:gdLst/>
            <a:ahLst/>
            <a:cxnLst/>
            <a:rect r="r" b="b" t="t" l="l"/>
            <a:pathLst>
              <a:path h="10768546" w="10768546">
                <a:moveTo>
                  <a:pt x="0" y="0"/>
                </a:moveTo>
                <a:lnTo>
                  <a:pt x="10768546" y="0"/>
                </a:lnTo>
                <a:lnTo>
                  <a:pt x="10768546" y="10768546"/>
                </a:lnTo>
                <a:lnTo>
                  <a:pt x="0" y="1076854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6661901" y="-2841859"/>
            <a:ext cx="6332329" cy="6332329"/>
          </a:xfrm>
          <a:custGeom>
            <a:avLst/>
            <a:gdLst/>
            <a:ahLst/>
            <a:cxnLst/>
            <a:rect r="r" b="b" t="t" l="l"/>
            <a:pathLst>
              <a:path h="6332329" w="6332329">
                <a:moveTo>
                  <a:pt x="0" y="0"/>
                </a:moveTo>
                <a:lnTo>
                  <a:pt x="6332330" y="0"/>
                </a:lnTo>
                <a:lnTo>
                  <a:pt x="6332330" y="6332330"/>
                </a:lnTo>
                <a:lnTo>
                  <a:pt x="0" y="6332330"/>
                </a:lnTo>
                <a:lnTo>
                  <a:pt x="0" y="0"/>
                </a:lnTo>
                <a:close/>
              </a:path>
            </a:pathLst>
          </a:custGeom>
          <a:blipFill>
            <a:blip r:embed="rId3">
              <a:alphaModFix amt="12000"/>
            </a:blip>
            <a:stretch>
              <a:fillRect l="0" t="0" r="0" b="0"/>
            </a:stretch>
          </a:blipFill>
        </p:spPr>
      </p:sp>
      <p:sp>
        <p:nvSpPr>
          <p:cNvPr name="TextBox 5" id="5"/>
          <p:cNvSpPr txBox="true"/>
          <p:nvPr/>
        </p:nvSpPr>
        <p:spPr>
          <a:xfrm rot="0">
            <a:off x="774700" y="2988364"/>
            <a:ext cx="6693769" cy="4866132"/>
          </a:xfrm>
          <a:prstGeom prst="rect">
            <a:avLst/>
          </a:prstGeom>
        </p:spPr>
        <p:txBody>
          <a:bodyPr anchor="t" rtlCol="false" tIns="0" lIns="0" bIns="0" rIns="0">
            <a:spAutoFit/>
          </a:bodyPr>
          <a:lstStyle/>
          <a:p>
            <a:pPr algn="l">
              <a:lnSpc>
                <a:spcPts val="9504"/>
              </a:lnSpc>
            </a:pPr>
            <a:r>
              <a:rPr lang="en-US" sz="9600" spc="-902" b="true">
                <a:solidFill>
                  <a:srgbClr val="FFFFFF"/>
                </a:solidFill>
                <a:latin typeface="Canva Sans Bold"/>
                <a:ea typeface="Canva Sans Bold"/>
                <a:cs typeface="Canva Sans Bold"/>
                <a:sym typeface="Canva Sans Bold"/>
              </a:rPr>
              <a:t>Konfigurasi timer pada STM32 dan ESP32</a:t>
            </a:r>
          </a:p>
        </p:txBody>
      </p:sp>
      <p:grpSp>
        <p:nvGrpSpPr>
          <p:cNvPr name="Group 6" id="6"/>
          <p:cNvGrpSpPr/>
          <p:nvPr/>
        </p:nvGrpSpPr>
        <p:grpSpPr>
          <a:xfrm rot="0">
            <a:off x="8168205" y="894461"/>
            <a:ext cx="9364490" cy="8498079"/>
            <a:chOff x="0" y="0"/>
            <a:chExt cx="2466368" cy="2238177"/>
          </a:xfrm>
        </p:grpSpPr>
        <p:sp>
          <p:nvSpPr>
            <p:cNvPr name="Freeform 7" id="7"/>
            <p:cNvSpPr/>
            <p:nvPr/>
          </p:nvSpPr>
          <p:spPr>
            <a:xfrm flipH="false" flipV="false" rot="0">
              <a:off x="0" y="0"/>
              <a:ext cx="2466368" cy="2238177"/>
            </a:xfrm>
            <a:custGeom>
              <a:avLst/>
              <a:gdLst/>
              <a:ahLst/>
              <a:cxnLst/>
              <a:rect r="r" b="b" t="t" l="l"/>
              <a:pathLst>
                <a:path h="2238177" w="2466368">
                  <a:moveTo>
                    <a:pt x="28936" y="0"/>
                  </a:moveTo>
                  <a:lnTo>
                    <a:pt x="2437432" y="0"/>
                  </a:lnTo>
                  <a:cubicBezTo>
                    <a:pt x="2453413" y="0"/>
                    <a:pt x="2466368" y="12955"/>
                    <a:pt x="2466368" y="28936"/>
                  </a:cubicBezTo>
                  <a:lnTo>
                    <a:pt x="2466368" y="2209242"/>
                  </a:lnTo>
                  <a:cubicBezTo>
                    <a:pt x="2466368" y="2225222"/>
                    <a:pt x="2453413" y="2238177"/>
                    <a:pt x="2437432" y="2238177"/>
                  </a:cubicBezTo>
                  <a:lnTo>
                    <a:pt x="28936" y="2238177"/>
                  </a:lnTo>
                  <a:cubicBezTo>
                    <a:pt x="12955" y="2238177"/>
                    <a:pt x="0" y="2225222"/>
                    <a:pt x="0" y="2209242"/>
                  </a:cubicBezTo>
                  <a:lnTo>
                    <a:pt x="0" y="28936"/>
                  </a:lnTo>
                  <a:cubicBezTo>
                    <a:pt x="0" y="12955"/>
                    <a:pt x="12955" y="0"/>
                    <a:pt x="28936"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8" id="8"/>
            <p:cNvSpPr txBox="true"/>
            <p:nvPr/>
          </p:nvSpPr>
          <p:spPr>
            <a:xfrm>
              <a:off x="0" y="85725"/>
              <a:ext cx="2466368" cy="215245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8382461" y="1104900"/>
            <a:ext cx="3430303" cy="1669738"/>
          </a:xfrm>
          <a:prstGeom prst="rect">
            <a:avLst/>
          </a:prstGeom>
        </p:spPr>
        <p:txBody>
          <a:bodyPr anchor="t" rtlCol="false" tIns="0" lIns="0" bIns="0" rIns="0">
            <a:spAutoFit/>
          </a:bodyPr>
          <a:lstStyle/>
          <a:p>
            <a:pPr algn="l" marL="0" indent="0" lvl="0">
              <a:lnSpc>
                <a:spcPts val="4349"/>
              </a:lnSpc>
              <a:spcBef>
                <a:spcPct val="0"/>
              </a:spcBef>
            </a:pPr>
            <a:r>
              <a:rPr lang="en-US" b="true" sz="4393" spc="-171">
                <a:solidFill>
                  <a:srgbClr val="FFFFFF"/>
                </a:solidFill>
                <a:latin typeface="Canva Sans Bold"/>
                <a:ea typeface="Canva Sans Bold"/>
                <a:cs typeface="Canva Sans Bold"/>
                <a:sym typeface="Canva Sans Bold"/>
              </a:rPr>
              <a:t>Konfigurasi Timer pada ESP</a:t>
            </a:r>
          </a:p>
        </p:txBody>
      </p:sp>
      <p:sp>
        <p:nvSpPr>
          <p:cNvPr name="TextBox 10" id="10"/>
          <p:cNvSpPr txBox="true"/>
          <p:nvPr/>
        </p:nvSpPr>
        <p:spPr>
          <a:xfrm rot="0">
            <a:off x="9039537" y="2788339"/>
            <a:ext cx="7621827" cy="6861175"/>
          </a:xfrm>
          <a:prstGeom prst="rect">
            <a:avLst/>
          </a:prstGeom>
        </p:spPr>
        <p:txBody>
          <a:bodyPr anchor="t" rtlCol="false" tIns="0" lIns="0" bIns="0" rIns="0">
            <a:spAutoFit/>
          </a:bodyPr>
          <a:lstStyle/>
          <a:p>
            <a:pPr algn="l">
              <a:lnSpc>
                <a:spcPts val="3049"/>
              </a:lnSpc>
            </a:pPr>
            <a:r>
              <a:rPr lang="en-US" sz="2499" spc="-52">
                <a:solidFill>
                  <a:srgbClr val="FFFFFF"/>
                </a:solidFill>
                <a:latin typeface="Aileron Light"/>
                <a:ea typeface="Aileron Light"/>
                <a:cs typeface="Aileron Light"/>
                <a:sym typeface="Aileron Light"/>
              </a:rPr>
              <a:t>Pada ESP32, timer digunakan untuk menjalankan proses secara periodik seperti membaca sensor, mengirim data, atau mengontrol perangkat tertentu. Konfigurasi timer dilakukan dengan mengatur prescaler, periode timer, dan fungsi interrupt yang akan dijalankan. Timer akan menghitung berdasarkan clock internal yang kemudian dibagi oleh prescaler untuk mendapatkan interval waktu yang diinginkan. Ketika nilai timer mencapai batas tertentu, maka interrupt akan dipicu dan sistem akan menjalankan fungsi yang telah ditentukan. Konfigurasi timer pada ESP32 biasanya dilakukan melalui Arduino IDE atau ESP-IDF sehingga memudahkan pengembang dalam mengatur waktu pada aplikasi IoT atau sistem embedded lainnya.</a:t>
            </a:r>
          </a:p>
          <a:p>
            <a:pPr algn="l">
              <a:lnSpc>
                <a:spcPts val="3049"/>
              </a:lnSpc>
            </a:pPr>
          </a:p>
          <a:p>
            <a:pPr algn="l">
              <a:lnSpc>
                <a:spcPts val="3049"/>
              </a:lnSpc>
            </a:pPr>
          </a:p>
          <a:p>
            <a:pPr algn="l">
              <a:lnSpc>
                <a:spcPts val="3049"/>
              </a:lnSpc>
            </a:pPr>
          </a:p>
          <a:p>
            <a:pPr algn="l">
              <a:lnSpc>
                <a:spcPts val="304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2665157" y="-1405552"/>
            <a:ext cx="13309917" cy="13309917"/>
          </a:xfrm>
          <a:custGeom>
            <a:avLst/>
            <a:gdLst/>
            <a:ahLst/>
            <a:cxnLst/>
            <a:rect r="r" b="b" t="t" l="l"/>
            <a:pathLst>
              <a:path h="13309917" w="13309917">
                <a:moveTo>
                  <a:pt x="0" y="0"/>
                </a:moveTo>
                <a:lnTo>
                  <a:pt x="13309918" y="0"/>
                </a:lnTo>
                <a:lnTo>
                  <a:pt x="13309918" y="13309917"/>
                </a:lnTo>
                <a:lnTo>
                  <a:pt x="0" y="13309917"/>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632469" y="559125"/>
            <a:ext cx="9380563" cy="9380563"/>
          </a:xfrm>
          <a:custGeom>
            <a:avLst/>
            <a:gdLst/>
            <a:ahLst/>
            <a:cxnLst/>
            <a:rect r="r" b="b" t="t" l="l"/>
            <a:pathLst>
              <a:path h="9380563" w="9380563">
                <a:moveTo>
                  <a:pt x="0" y="0"/>
                </a:moveTo>
                <a:lnTo>
                  <a:pt x="9380563" y="0"/>
                </a:lnTo>
                <a:lnTo>
                  <a:pt x="9380563" y="9380563"/>
                </a:lnTo>
                <a:lnTo>
                  <a:pt x="0" y="9380563"/>
                </a:lnTo>
                <a:lnTo>
                  <a:pt x="0" y="0"/>
                </a:lnTo>
                <a:close/>
              </a:path>
            </a:pathLst>
          </a:custGeom>
          <a:blipFill>
            <a:blip r:embed="rId3">
              <a:alphaModFix amt="12000"/>
            </a:blip>
            <a:stretch>
              <a:fillRect l="0" t="0" r="0" b="0"/>
            </a:stretch>
          </a:blipFill>
        </p:spPr>
      </p:sp>
      <p:sp>
        <p:nvSpPr>
          <p:cNvPr name="Freeform 5" id="5"/>
          <p:cNvSpPr/>
          <p:nvPr/>
        </p:nvSpPr>
        <p:spPr>
          <a:xfrm flipH="false" flipV="true" rot="6480827">
            <a:off x="12489001" y="-3080284"/>
            <a:ext cx="5423860" cy="8217969"/>
          </a:xfrm>
          <a:custGeom>
            <a:avLst/>
            <a:gdLst/>
            <a:ahLst/>
            <a:cxnLst/>
            <a:rect r="r" b="b" t="t" l="l"/>
            <a:pathLst>
              <a:path h="8217969" w="5423860">
                <a:moveTo>
                  <a:pt x="0" y="8217968"/>
                </a:moveTo>
                <a:lnTo>
                  <a:pt x="5423860" y="8217968"/>
                </a:lnTo>
                <a:lnTo>
                  <a:pt x="5423860" y="0"/>
                </a:lnTo>
                <a:lnTo>
                  <a:pt x="0" y="0"/>
                </a:lnTo>
                <a:lnTo>
                  <a:pt x="0" y="8217968"/>
                </a:lnTo>
                <a:close/>
              </a:path>
            </a:pathLst>
          </a:custGeom>
          <a:blipFill>
            <a:blip r:embed="rId4">
              <a:alphaModFix amt="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835522" y="285750"/>
            <a:ext cx="10351147" cy="5345431"/>
          </a:xfrm>
          <a:prstGeom prst="rect">
            <a:avLst/>
          </a:prstGeom>
        </p:spPr>
        <p:txBody>
          <a:bodyPr anchor="t" rtlCol="false" tIns="0" lIns="0" bIns="0" rIns="0">
            <a:spAutoFit/>
          </a:bodyPr>
          <a:lstStyle/>
          <a:p>
            <a:pPr algn="l">
              <a:lnSpc>
                <a:spcPts val="13860"/>
              </a:lnSpc>
            </a:pPr>
            <a:r>
              <a:rPr lang="en-US" sz="14000" spc="-1316" b="true">
                <a:solidFill>
                  <a:srgbClr val="FFFFFF"/>
                </a:solidFill>
                <a:latin typeface="Canva Sans Bold"/>
                <a:ea typeface="Canva Sans Bold"/>
                <a:cs typeface="Canva Sans Bold"/>
                <a:sym typeface="Canva Sans Bold"/>
              </a:rPr>
              <a:t>Perbandingan STM32 vs ESP32</a:t>
            </a:r>
          </a:p>
        </p:txBody>
      </p:sp>
      <p:sp>
        <p:nvSpPr>
          <p:cNvPr name="TextBox 7" id="7"/>
          <p:cNvSpPr txBox="true"/>
          <p:nvPr/>
        </p:nvSpPr>
        <p:spPr>
          <a:xfrm rot="0">
            <a:off x="8267362" y="2806065"/>
            <a:ext cx="9419077" cy="6803771"/>
          </a:xfrm>
          <a:prstGeom prst="rect">
            <a:avLst/>
          </a:prstGeom>
        </p:spPr>
        <p:txBody>
          <a:bodyPr anchor="t" rtlCol="false" tIns="0" lIns="0" bIns="0" rIns="0">
            <a:spAutoFit/>
          </a:bodyPr>
          <a:lstStyle/>
          <a:p>
            <a:pPr algn="l">
              <a:lnSpc>
                <a:spcPts val="3171"/>
              </a:lnSpc>
            </a:pPr>
            <a:r>
              <a:rPr lang="en-US" sz="2599" spc="-54">
                <a:solidFill>
                  <a:srgbClr val="FFFFFF"/>
                </a:solidFill>
                <a:latin typeface="Aileron Light"/>
                <a:ea typeface="Aileron Light"/>
                <a:cs typeface="Aileron Light"/>
                <a:sym typeface="Aileron Light"/>
              </a:rPr>
              <a:t>STM32 dan ESP32 merupakan dua jenis mikrokontroler yang sangat populer dalam pengembangan sistem embedded modern. STM32 merupakan keluarga mikrokontroler berbasis arsitektur ARM Cortex yang diproduksi oleh STMicroelectronics. Mikrokontroler ini dikenal memiliki performa tinggi, konsumsi daya yang efisien, serta berbagai peripheral yang sangat lengkap sehingga banyak digunakan dalam aplikasi industri, sistem kontrol, dan robotika. Di sisi lain, ESP32 merupakan mikrokontroler yang dikembangkan oleh Espressif yang memiliki keunggulan utama berupa modul WiFi dan Bluetooth yang sudah terintegrasi di dalam chip. Hal ini menjadikan ESP32 sangat populer dalam pengembangan perangkat Internet of Things atau IoT. Selain itu ESP32 juga memiliki prosesor dual core yang mampu memberikan performa pemrosesan yang cukup tinggi. Secara umum STM32 lebih banyak digunakan pada aplikasi embedded yang membutuhkan stabilitas dan presisi tinggi, sedangkan ESP32 lebih banyak digunakan pada aplikasi yang membutuhkan konektivitas jaringan seperti smart home dan sistem monitoring berbasis internet.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5120089">
            <a:off x="-892299" y="836642"/>
            <a:ext cx="11506109" cy="11506109"/>
          </a:xfrm>
          <a:custGeom>
            <a:avLst/>
            <a:gdLst/>
            <a:ahLst/>
            <a:cxnLst/>
            <a:rect r="r" b="b" t="t" l="l"/>
            <a:pathLst>
              <a:path h="11506109" w="11506109">
                <a:moveTo>
                  <a:pt x="0" y="0"/>
                </a:moveTo>
                <a:lnTo>
                  <a:pt x="11506109" y="0"/>
                </a:lnTo>
                <a:lnTo>
                  <a:pt x="11506109" y="11506109"/>
                </a:lnTo>
                <a:lnTo>
                  <a:pt x="0" y="11506109"/>
                </a:lnTo>
                <a:lnTo>
                  <a:pt x="0" y="0"/>
                </a:lnTo>
                <a:close/>
              </a:path>
            </a:pathLst>
          </a:custGeom>
          <a:blipFill>
            <a:blip r:embed="rId3">
              <a:alphaModFix amt="12000"/>
            </a:blip>
            <a:stretch>
              <a:fillRect l="0" t="0" r="0" b="0"/>
            </a:stretch>
          </a:blipFill>
        </p:spPr>
      </p:sp>
      <p:sp>
        <p:nvSpPr>
          <p:cNvPr name="Freeform 4" id="4"/>
          <p:cNvSpPr/>
          <p:nvPr/>
        </p:nvSpPr>
        <p:spPr>
          <a:xfrm flipH="false" flipV="true" rot="6480827">
            <a:off x="12489001" y="-3080284"/>
            <a:ext cx="5423860" cy="8217969"/>
          </a:xfrm>
          <a:custGeom>
            <a:avLst/>
            <a:gdLst/>
            <a:ahLst/>
            <a:cxnLst/>
            <a:rect r="r" b="b" t="t" l="l"/>
            <a:pathLst>
              <a:path h="8217969" w="5423860">
                <a:moveTo>
                  <a:pt x="0" y="8217968"/>
                </a:moveTo>
                <a:lnTo>
                  <a:pt x="5423860" y="8217968"/>
                </a:lnTo>
                <a:lnTo>
                  <a:pt x="5423860" y="0"/>
                </a:lnTo>
                <a:lnTo>
                  <a:pt x="0" y="0"/>
                </a:lnTo>
                <a:lnTo>
                  <a:pt x="0" y="8217968"/>
                </a:lnTo>
                <a:close/>
              </a:path>
            </a:pathLst>
          </a:custGeom>
          <a:blipFill>
            <a:blip r:embed="rId4">
              <a:alphaModFix amt="3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61300" y="719054"/>
            <a:ext cx="323470" cy="431293"/>
          </a:xfrm>
          <a:custGeom>
            <a:avLst/>
            <a:gdLst/>
            <a:ahLst/>
            <a:cxnLst/>
            <a:rect r="r" b="b" t="t" l="l"/>
            <a:pathLst>
              <a:path h="431293" w="323470">
                <a:moveTo>
                  <a:pt x="0" y="0"/>
                </a:moveTo>
                <a:lnTo>
                  <a:pt x="323470" y="0"/>
                </a:lnTo>
                <a:lnTo>
                  <a:pt x="323470" y="431293"/>
                </a:lnTo>
                <a:lnTo>
                  <a:pt x="0" y="43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061300" y="3994646"/>
            <a:ext cx="10049226" cy="5651931"/>
          </a:xfrm>
          <a:prstGeom prst="rect">
            <a:avLst/>
          </a:prstGeom>
        </p:spPr>
        <p:txBody>
          <a:bodyPr anchor="t" rtlCol="false" tIns="0" lIns="0" bIns="0" rIns="0">
            <a:spAutoFit/>
          </a:bodyPr>
          <a:lstStyle/>
          <a:p>
            <a:pPr algn="l">
              <a:lnSpc>
                <a:spcPts val="21762"/>
              </a:lnSpc>
            </a:pPr>
            <a:r>
              <a:rPr lang="en-US" sz="21982" spc="-2066" b="true">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DAHDXsnEu0k</dc:identifier>
  <dcterms:modified xsi:type="dcterms:W3CDTF">2011-08-01T06:04:30Z</dcterms:modified>
  <cp:revision>1</cp:revision>
  <dc:title>Green and White Modern Gradient Business Pitch Deck Presentation</dc:title>
</cp:coreProperties>
</file>